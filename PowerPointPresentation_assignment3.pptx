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7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4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354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404826-A626-E293-BFF9-2F88815A789A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412EF0-4541-B2B5-7976-0DB23622DD5F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90CB19-192D-74F5-1412-A402F2EF97DE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E68B6D-22FA-52CB-8EDB-4145E946FC7E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D0662F-7741-7C4C-C785-93DEE62DF41A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info@ucu.ac.ug" TargetMode="External"/><Relationship Id="rId5" Type="http://schemas.openxmlformats.org/officeDocument/2006/relationships/hyperlink" Target="https://ucu.ac.ug/" TargetMode="External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D528E-B0C4-574C-AE6E-B35A83CFEB1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400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D528E-B0C4-574C-AE6E-B35A83CFEB1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352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D528E-B0C4-574C-AE6E-B35A83CFEB1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4765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D528E-B0C4-574C-AE6E-B35A83CFEB1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794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D528E-B0C4-574C-AE6E-B35A83CFEB1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31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D528E-B0C4-574C-AE6E-B35A83CFEB1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814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D528E-B0C4-574C-AE6E-B35A83CFEB1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543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D528E-B0C4-574C-AE6E-B35A83CFEB1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8682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D528E-B0C4-574C-AE6E-B35A83CFEB1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759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D528E-B0C4-574C-AE6E-B35A83CFEB1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492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D528E-B0C4-574C-AE6E-B35A83CFEB1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8308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D528E-B0C4-574C-AE6E-B35A83CFEB1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7007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D528E-B0C4-574C-AE6E-B35A83CFEB1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322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D528E-B0C4-574C-AE6E-B35A83CFEB1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373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D528E-B0C4-574C-AE6E-B35A83CFEB1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7045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D528E-B0C4-574C-AE6E-B35A83CFEB1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2798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Las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077758" name="Slide Number Placehold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  <p:sp>
        <p:nvSpPr>
          <p:cNvPr id="959724681" name="Date Placeholder 3"/>
          <p:cNvSpPr>
            <a:spLocks noGrp="1"/>
          </p:cNvSpPr>
          <p:nvPr>
            <p:ph type="dt" sz="half" idx="11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20/11/2025</a:t>
            </a:fld>
            <a:endParaRPr lang="en-GB"/>
          </a:p>
        </p:txBody>
      </p:sp>
      <p:sp>
        <p:nvSpPr>
          <p:cNvPr id="1092225748" name="Footer Placeholder 4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grpSp>
        <p:nvGrpSpPr>
          <p:cNvPr id="2126144516" name="Group 19"/>
          <p:cNvGrpSpPr/>
          <p:nvPr userDrawn="1"/>
        </p:nvGrpSpPr>
        <p:grpSpPr bwMode="auto">
          <a:xfrm>
            <a:off x="2836065" y="3885190"/>
            <a:ext cx="6359384" cy="2140032"/>
            <a:chOff x="3054867" y="3815867"/>
            <a:chExt cx="6359384" cy="2140032"/>
          </a:xfrm>
        </p:grpSpPr>
        <p:grpSp>
          <p:nvGrpSpPr>
            <p:cNvPr id="6" name="Group 5"/>
            <p:cNvGrpSpPr/>
            <p:nvPr userDrawn="1"/>
          </p:nvGrpSpPr>
          <p:grpSpPr bwMode="auto">
            <a:xfrm>
              <a:off x="4699683" y="3815867"/>
              <a:ext cx="4714568" cy="2140032"/>
              <a:chOff x="4173580" y="3135225"/>
              <a:chExt cx="5623246" cy="2568070"/>
            </a:xfrm>
          </p:grpSpPr>
          <p:pic>
            <p:nvPicPr>
              <p:cNvPr id="7" name="Picture 4" descr="facebook instagram whatsapp PNG image with transparent background | TOPpng"/>
              <p:cNvPicPr>
                <a:picLocks noChangeAspect="1" noChangeArrowheads="1"/>
              </p:cNvPicPr>
              <p:nvPr/>
            </p:nvPicPr>
            <p:blipFill rotWithShape="1">
              <a:blip r:embed="rId2"/>
              <a:srcRect r="66494" b="67238"/>
              <a:stretch/>
            </p:blipFill>
            <p:spPr bwMode="auto">
              <a:xfrm>
                <a:off x="4238019" y="4511394"/>
                <a:ext cx="413410" cy="429912"/>
              </a:xfrm>
              <a:prstGeom prst="rect">
                <a:avLst/>
              </a:prstGeom>
              <a:noFill/>
            </p:spPr>
          </p:pic>
          <p:pic>
            <p:nvPicPr>
              <p:cNvPr id="8" name="Picture 6" descr="facebook instagram whatsapp PNG image with transparent background | TOPpng"/>
              <p:cNvPicPr>
                <a:picLocks noChangeAspect="1" noChangeArrowheads="1"/>
              </p:cNvPicPr>
              <p:nvPr/>
            </p:nvPicPr>
            <p:blipFill rotWithShape="1">
              <a:blip r:embed="rId3"/>
              <a:srcRect l="67402" b="69905"/>
              <a:stretch/>
            </p:blipFill>
            <p:spPr bwMode="auto">
              <a:xfrm>
                <a:off x="4296096" y="4883265"/>
                <a:ext cx="413865" cy="406381"/>
              </a:xfrm>
              <a:prstGeom prst="rect">
                <a:avLst/>
              </a:prstGeom>
              <a:noFill/>
            </p:spPr>
          </p:pic>
          <p:pic>
            <p:nvPicPr>
              <p:cNvPr id="9" name="Picture 8" descr="Round black telephone logo, Telephone Icon, Phone File, electronics, logo,  black And White png | PNGWing"/>
              <p:cNvPicPr>
                <a:picLocks noChangeAspect="1" noChangeArrowheads="1"/>
              </p:cNvPicPr>
              <p:nvPr/>
            </p:nvPicPr>
            <p:blipFill rotWithShape="1">
              <a:blip r:embed="rId4"/>
              <a:stretch/>
            </p:blipFill>
            <p:spPr bwMode="auto">
              <a:xfrm>
                <a:off x="4275797" y="5317157"/>
                <a:ext cx="371315" cy="386138"/>
              </a:xfrm>
              <a:prstGeom prst="rect">
                <a:avLst/>
              </a:prstGeom>
              <a:noFill/>
            </p:spPr>
          </p:pic>
          <p:sp>
            <p:nvSpPr>
              <p:cNvPr id="10" name="TextBox 9"/>
              <p:cNvSpPr txBox="1"/>
              <p:nvPr/>
            </p:nvSpPr>
            <p:spPr bwMode="auto">
              <a:xfrm>
                <a:off x="4629313" y="4929543"/>
                <a:ext cx="2964236" cy="360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>
                  <a:defRPr/>
                </a:pPr>
                <a:r>
                  <a:rPr lang="en-US" sz="1350">
                    <a:solidFill>
                      <a:prstClr val="black"/>
                    </a:solidFill>
                    <a:latin typeface="Trebuchet MS"/>
                  </a:rPr>
                  <a:t>@ugandachristianuniversity</a:t>
                </a:r>
                <a:endParaRPr sz="1350">
                  <a:solidFill>
                    <a:prstClr val="black"/>
                  </a:solidFill>
                  <a:latin typeface="Trebuchet MS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 bwMode="auto">
              <a:xfrm>
                <a:off x="4570065" y="5343192"/>
                <a:ext cx="2851459" cy="360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>
                  <a:defRPr/>
                </a:pPr>
                <a:r>
                  <a:rPr lang="en-GB" sz="1350" u="sng">
                    <a:solidFill>
                      <a:srgbClr val="0000FF"/>
                    </a:solidFill>
                    <a:latin typeface="Trebuchet MS"/>
                    <a:hlinkClick r:id="rId5"/>
                  </a:rPr>
                  <a:t>https://ucu.ac.ug/</a:t>
                </a:r>
                <a:r>
                  <a:rPr lang="en-GB" sz="1350">
                    <a:solidFill>
                      <a:srgbClr val="0000FF"/>
                    </a:solidFill>
                    <a:latin typeface="Trebuchet MS"/>
                  </a:rPr>
                  <a:t> </a:t>
                </a:r>
                <a:endParaRPr sz="1350">
                  <a:solidFill>
                    <a:srgbClr val="0000FF"/>
                  </a:solidFill>
                  <a:latin typeface="Trebuchet MS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 bwMode="auto">
              <a:xfrm>
                <a:off x="8015811" y="4532448"/>
                <a:ext cx="1781015" cy="369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>
                  <a:defRPr/>
                </a:pPr>
                <a:r>
                  <a:rPr lang="en-GB" sz="135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Trebuchet MS"/>
                  </a:rPr>
                  <a:t>@UCUniversity</a:t>
                </a:r>
                <a:endParaRPr sz="1350">
                  <a:solidFill>
                    <a:prstClr val="black">
                      <a:lumMod val="95000"/>
                      <a:lumOff val="5000"/>
                    </a:prstClr>
                  </a:solidFill>
                  <a:latin typeface="Trebuchet MS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 bwMode="auto">
              <a:xfrm>
                <a:off x="4535920" y="4545114"/>
                <a:ext cx="3240067" cy="369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>
                  <a:defRPr/>
                </a:pPr>
                <a:r>
                  <a:rPr lang="en-GB" sz="135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Trebuchet MS"/>
                  </a:rPr>
                  <a:t>@UgandaChristianUniversity</a:t>
                </a:r>
                <a:endParaRPr sz="1350">
                  <a:solidFill>
                    <a:prstClr val="black">
                      <a:lumMod val="95000"/>
                      <a:lumOff val="5000"/>
                    </a:prstClr>
                  </a:solidFill>
                  <a:latin typeface="Trebuchet MS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 bwMode="auto">
              <a:xfrm>
                <a:off x="4201882" y="3514011"/>
                <a:ext cx="3513911" cy="8864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>
                  <a:defRPr/>
                </a:pPr>
                <a:r>
                  <a:rPr lang="sv-SE" sz="1400">
                    <a:solidFill>
                      <a:srgbClr val="5B9BD5">
                        <a:lumMod val="50000"/>
                      </a:srgbClr>
                    </a:solidFill>
                    <a:latin typeface="Trebuchet MS"/>
                  </a:rPr>
                  <a:t>P.O. Box 4 Mukono, Uganda</a:t>
                </a:r>
                <a:endParaRPr/>
              </a:p>
              <a:p>
                <a:pPr defTabSz="685800">
                  <a:defRPr/>
                </a:pPr>
                <a:r>
                  <a:rPr lang="en-GB" sz="1400">
                    <a:solidFill>
                      <a:srgbClr val="5B9BD5">
                        <a:lumMod val="50000"/>
                      </a:srgbClr>
                    </a:solidFill>
                    <a:latin typeface="Trebuchet MS"/>
                  </a:rPr>
                  <a:t>Tel: 256-312-350800</a:t>
                </a:r>
                <a:endParaRPr/>
              </a:p>
              <a:p>
                <a:pPr defTabSz="685800">
                  <a:defRPr/>
                </a:pPr>
                <a:r>
                  <a:rPr lang="fr-FR" sz="1400">
                    <a:solidFill>
                      <a:srgbClr val="5B9BD5">
                        <a:lumMod val="50000"/>
                      </a:srgbClr>
                    </a:solidFill>
                    <a:latin typeface="Trebuchet MS"/>
                  </a:rPr>
                  <a:t>Email: </a:t>
                </a:r>
                <a:r>
                  <a:rPr lang="fr-FR" sz="1400" u="sng">
                    <a:solidFill>
                      <a:srgbClr val="0000FF"/>
                    </a:solidFill>
                    <a:latin typeface="Trebuchet MS"/>
                    <a:hlinkClick r:id="rId6"/>
                  </a:rPr>
                  <a:t>info@ucu.ac.ug</a:t>
                </a:r>
                <a:endParaRPr lang="fr-FR" sz="1400">
                  <a:solidFill>
                    <a:srgbClr val="0000FF"/>
                  </a:solidFill>
                  <a:latin typeface="Trebuchet MS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 bwMode="auto">
              <a:xfrm>
                <a:off x="4173580" y="3135225"/>
                <a:ext cx="4174871" cy="480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>
                  <a:defRPr/>
                </a:pPr>
                <a:r>
                  <a:rPr lang="en-GB" sz="2000" b="1">
                    <a:solidFill>
                      <a:srgbClr val="5B9BD5">
                        <a:lumMod val="50000"/>
                      </a:srgbClr>
                    </a:solidFill>
                    <a:latin typeface="Trebuchet MS"/>
                  </a:rPr>
                  <a:t>Uganda Christian University</a:t>
                </a:r>
                <a:endParaRPr sz="2000">
                  <a:solidFill>
                    <a:srgbClr val="5B9BD5">
                      <a:lumMod val="50000"/>
                    </a:srgbClr>
                  </a:solidFill>
                  <a:latin typeface="Trebuchet MS"/>
                </a:endParaRPr>
              </a:p>
            </p:txBody>
          </p:sp>
          <p:pic>
            <p:nvPicPr>
              <p:cNvPr id="16" name="Picture 6" descr="facebook instagram whatsapp PNG image with transparent background | TOPpng"/>
              <p:cNvPicPr>
                <a:picLocks noChangeAspect="1" noChangeArrowheads="1"/>
              </p:cNvPicPr>
              <p:nvPr userDrawn="1"/>
            </p:nvPicPr>
            <p:blipFill rotWithShape="1">
              <a:blip r:embed="rId3"/>
              <a:srcRect t="34921" r="64675" b="31936"/>
              <a:stretch/>
            </p:blipFill>
            <p:spPr bwMode="auto">
              <a:xfrm>
                <a:off x="7686943" y="4513314"/>
                <a:ext cx="448491" cy="447534"/>
              </a:xfrm>
              <a:prstGeom prst="rect">
                <a:avLst/>
              </a:prstGeom>
              <a:noFill/>
            </p:spPr>
          </p:pic>
        </p:grpSp>
        <p:pic>
          <p:nvPicPr>
            <p:cNvPr id="19" name="Picture 18"/>
            <p:cNvPicPr>
              <a:picLocks noChangeAspect="1"/>
            </p:cNvPicPr>
            <p:nvPr userDrawn="1"/>
          </p:nvPicPr>
          <p:blipFill rotWithShape="1">
            <a:blip r:embed="rId7"/>
            <a:srcRect l="4177" t="16271" r="77310" b="16736"/>
            <a:stretch/>
          </p:blipFill>
          <p:spPr bwMode="auto">
            <a:xfrm>
              <a:off x="3054867" y="3883165"/>
              <a:ext cx="1730515" cy="1908000"/>
            </a:xfrm>
            <a:prstGeom prst="rect">
              <a:avLst/>
            </a:prstGeom>
          </p:spPr>
        </p:pic>
      </p:grpSp>
      <p:pic>
        <p:nvPicPr>
          <p:cNvPr id="1322869456" name="Picture 2" descr="Red button thank you icon Royalty Free Vector Image"/>
          <p:cNvPicPr>
            <a:picLocks noChangeAspect="1" noChangeArrowheads="1"/>
          </p:cNvPicPr>
          <p:nvPr userDrawn="1"/>
        </p:nvPicPr>
        <p:blipFill rotWithShape="1">
          <a:blip r:embed="rId8"/>
          <a:srcRect b="13043"/>
          <a:stretch/>
        </p:blipFill>
        <p:spPr bwMode="auto">
          <a:xfrm>
            <a:off x="4606336" y="1691476"/>
            <a:ext cx="1825644" cy="17041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88713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58521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8635060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8374609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20/11/2025</a:t>
            </a:fld>
            <a:endParaRPr lang="en-GB"/>
          </a:p>
        </p:txBody>
      </p:sp>
      <p:sp>
        <p:nvSpPr>
          <p:cNvPr id="35750384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279152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9800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0009636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0164152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20/11/2025</a:t>
            </a:fld>
            <a:endParaRPr lang="en-GB"/>
          </a:p>
        </p:txBody>
      </p:sp>
      <p:sp>
        <p:nvSpPr>
          <p:cNvPr id="73731922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534590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1_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01697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3224297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7755003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20/11/2025</a:t>
            </a:fld>
            <a:endParaRPr lang="en-GB"/>
          </a:p>
        </p:txBody>
      </p:sp>
      <p:sp>
        <p:nvSpPr>
          <p:cNvPr id="212449077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141836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1_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5377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91780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067408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86790711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20/11/2025</a:t>
            </a:fld>
            <a:endParaRPr lang="en-GB"/>
          </a:p>
        </p:txBody>
      </p:sp>
      <p:sp>
        <p:nvSpPr>
          <p:cNvPr id="19597863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579153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1_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91287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6429689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solidFill>
            <a:srgbClr val="D7014D"/>
          </a:solidFill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7021860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7470196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solidFill>
            <a:srgbClr val="FFD932"/>
          </a:solidFill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34498917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0558762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20/11/2025</a:t>
            </a:fld>
            <a:endParaRPr lang="en-GB"/>
          </a:p>
        </p:txBody>
      </p:sp>
      <p:sp>
        <p:nvSpPr>
          <p:cNvPr id="1171920680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2440092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1_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9517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089350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20/11/2025</a:t>
            </a:fld>
            <a:endParaRPr lang="en-GB"/>
          </a:p>
        </p:txBody>
      </p:sp>
      <p:sp>
        <p:nvSpPr>
          <p:cNvPr id="105519344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94357169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1_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60149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20/11/2025</a:t>
            </a:fld>
            <a:endParaRPr lang="en-GB"/>
          </a:p>
        </p:txBody>
      </p:sp>
      <p:sp>
        <p:nvSpPr>
          <p:cNvPr id="1288321232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3359524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1_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1959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3843901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517471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82092903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20/11/2025</a:t>
            </a:fld>
            <a:endParaRPr lang="en-GB"/>
          </a:p>
        </p:txBody>
      </p:sp>
      <p:sp>
        <p:nvSpPr>
          <p:cNvPr id="1244470634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6475353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1_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80010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8733900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24528315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213457056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20/11/2025</a:t>
            </a:fld>
            <a:endParaRPr lang="en-GB"/>
          </a:p>
        </p:txBody>
      </p:sp>
      <p:sp>
        <p:nvSpPr>
          <p:cNvPr id="1400266493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161340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1_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5809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7724166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3295621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20/11/2025</a:t>
            </a:fld>
            <a:endParaRPr lang="en-GB"/>
          </a:p>
        </p:txBody>
      </p:sp>
      <p:sp>
        <p:nvSpPr>
          <p:cNvPr id="96698605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728965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1_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7945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8257820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929897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20/11/2025</a:t>
            </a:fld>
            <a:endParaRPr lang="en-GB"/>
          </a:p>
        </p:txBody>
      </p:sp>
      <p:sp>
        <p:nvSpPr>
          <p:cNvPr id="161895757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2611168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hyperlink" Target="http://www.ucu.ac.ug/" TargetMode="Externa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hyperlink" Target="mailto:info@ucu.ac.ug" TargetMode="Externa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45D528E-B0C4-574C-AE6E-B35A83CFEB1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7CFC0BA-27CE-4575-8916-6202B3591C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0"/>
          <a:stretch/>
        </p:blipFill>
        <p:spPr bwMode="auto">
          <a:xfrm>
            <a:off x="9776791" y="0"/>
            <a:ext cx="2415209" cy="735885"/>
          </a:xfrm>
          <a:prstGeom prst="rect">
            <a:avLst/>
          </a:prstGeom>
        </p:spPr>
      </p:pic>
      <p:sp>
        <p:nvSpPr>
          <p:cNvPr id="19" name="Rectangle 6">
            <a:extLst>
              <a:ext uri="{FF2B5EF4-FFF2-40B4-BE49-F238E27FC236}">
                <a16:creationId xmlns:a16="http://schemas.microsoft.com/office/drawing/2014/main" id="{B7C8B5DF-6F3B-481D-B1DB-A32CAF91AA03}"/>
              </a:ext>
            </a:extLst>
          </p:cNvPr>
          <p:cNvSpPr/>
          <p:nvPr userDrawn="1"/>
        </p:nvSpPr>
        <p:spPr bwMode="auto">
          <a:xfrm>
            <a:off x="838200" y="1508126"/>
            <a:ext cx="11353800" cy="179387"/>
          </a:xfrm>
          <a:prstGeom prst="rect">
            <a:avLst/>
          </a:prstGeom>
          <a:solidFill>
            <a:srgbClr val="0B3D9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8551C237-9343-4F12-882F-C6492BE12A7D}"/>
              </a:ext>
            </a:extLst>
          </p:cNvPr>
          <p:cNvSpPr/>
          <p:nvPr userDrawn="1"/>
        </p:nvSpPr>
        <p:spPr bwMode="auto">
          <a:xfrm>
            <a:off x="0" y="1508126"/>
            <a:ext cx="838200" cy="179387"/>
          </a:xfrm>
          <a:prstGeom prst="rect">
            <a:avLst/>
          </a:prstGeom>
          <a:solidFill>
            <a:srgbClr val="D7014D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1" name="Rectangle 11">
            <a:extLst>
              <a:ext uri="{FF2B5EF4-FFF2-40B4-BE49-F238E27FC236}">
                <a16:creationId xmlns:a16="http://schemas.microsoft.com/office/drawing/2014/main" id="{D3387A30-77FB-4214-BAD0-00D6D8921734}"/>
              </a:ext>
            </a:extLst>
          </p:cNvPr>
          <p:cNvSpPr/>
          <p:nvPr userDrawn="1"/>
        </p:nvSpPr>
        <p:spPr bwMode="auto">
          <a:xfrm>
            <a:off x="838200" y="1508125"/>
            <a:ext cx="838200" cy="179387"/>
          </a:xfrm>
          <a:prstGeom prst="rect">
            <a:avLst/>
          </a:prstGeom>
          <a:solidFill>
            <a:srgbClr val="FFD93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169DF8-29F9-4F07-B41D-A546BEB6F4FD}"/>
              </a:ext>
            </a:extLst>
          </p:cNvPr>
          <p:cNvSpPr txBox="1"/>
          <p:nvPr userDrawn="1"/>
        </p:nvSpPr>
        <p:spPr bwMode="auto">
          <a:xfrm>
            <a:off x="3975652" y="6176964"/>
            <a:ext cx="3627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850" b="1">
                <a:solidFill>
                  <a:srgbClr val="0B3D91"/>
                </a:solidFill>
              </a:rPr>
              <a:t>A Complete Education for A Complete Person</a:t>
            </a:r>
            <a:endParaRPr/>
          </a:p>
          <a:p>
            <a:pPr algn="ctr">
              <a:defRPr/>
            </a:pPr>
            <a:br>
              <a:rPr lang="en-GB" sz="700"/>
            </a:br>
            <a:r>
              <a:rPr lang="en-GB" sz="700"/>
              <a:t>P.O. Box 4, Mukono, Uganda, Plot 67-173, Bishop Tucker Road, Mukono Hill</a:t>
            </a:r>
            <a:endParaRPr lang="en-US" sz="700"/>
          </a:p>
          <a:p>
            <a:pPr algn="ctr">
              <a:defRPr/>
            </a:pPr>
            <a:r>
              <a:rPr lang="en-GB" sz="700"/>
              <a:t>Tel: +256 (0) 312 350 800 Email: </a:t>
            </a:r>
            <a:r>
              <a:rPr lang="en-GB" sz="700" u="sng">
                <a:solidFill>
                  <a:srgbClr val="0000FF"/>
                </a:solidFill>
                <a:hlinkClick r:id="rId31"/>
              </a:rPr>
              <a:t>info@ucu.ac.ug</a:t>
            </a:r>
            <a:r>
              <a:rPr lang="en-GB" sz="700">
                <a:solidFill>
                  <a:srgbClr val="0000FF"/>
                </a:solidFill>
              </a:rPr>
              <a:t> </a:t>
            </a:r>
            <a:r>
              <a:rPr lang="en-GB" sz="700"/>
              <a:t>Web: </a:t>
            </a:r>
            <a:r>
              <a:rPr lang="en-GB" sz="700" u="sng">
                <a:solidFill>
                  <a:srgbClr val="0000FF"/>
                </a:solidFill>
              </a:rPr>
              <a:t>https://</a:t>
            </a:r>
            <a:r>
              <a:rPr lang="en-GB" sz="700" u="sng">
                <a:solidFill>
                  <a:srgbClr val="0000FF"/>
                </a:solidFill>
                <a:hlinkClick r:id="rId32"/>
              </a:rPr>
              <a:t>ucu.ac.ug</a:t>
            </a:r>
            <a:endParaRPr lang="en-US" sz="700" u="sng">
              <a:solidFill>
                <a:srgbClr val="0000FF"/>
              </a:solidFill>
            </a:endParaRPr>
          </a:p>
          <a:p>
            <a:pPr algn="ctr">
              <a:defRPr/>
            </a:pPr>
            <a:r>
              <a:rPr lang="en-GB" sz="650"/>
              <a:t>Founded by the Province of the Church of Uganda. Chartered by the Government of Uganda</a:t>
            </a:r>
            <a:endParaRPr lang="en-US" sz="65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55C70D-6C0F-45BC-B355-79748E50740F}"/>
              </a:ext>
            </a:extLst>
          </p:cNvPr>
          <p:cNvCxnSpPr/>
          <p:nvPr userDrawn="1"/>
        </p:nvCxnSpPr>
        <p:spPr bwMode="auto">
          <a:xfrm>
            <a:off x="0" y="6395027"/>
            <a:ext cx="12192000" cy="0"/>
          </a:xfrm>
          <a:prstGeom prst="line">
            <a:avLst/>
          </a:prstGeom>
          <a:ln w="12700">
            <a:solidFill>
              <a:srgbClr val="D701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590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  <p:sldLayoutId id="2147483819" r:id="rId12"/>
    <p:sldLayoutId id="2147483820" r:id="rId13"/>
    <p:sldLayoutId id="2147483821" r:id="rId14"/>
    <p:sldLayoutId id="2147483822" r:id="rId15"/>
    <p:sldLayoutId id="2147483823" r:id="rId16"/>
    <p:sldLayoutId id="2147483824" r:id="rId17"/>
    <p:sldLayoutId id="2147483649" r:id="rId18"/>
    <p:sldLayoutId id="2147483650" r:id="rId19"/>
    <p:sldLayoutId id="2147483651" r:id="rId20"/>
    <p:sldLayoutId id="2147483652" r:id="rId21"/>
    <p:sldLayoutId id="2147483653" r:id="rId22"/>
    <p:sldLayoutId id="2147483654" r:id="rId23"/>
    <p:sldLayoutId id="2147483655" r:id="rId24"/>
    <p:sldLayoutId id="2147483656" r:id="rId25"/>
    <p:sldLayoutId id="2147483657" r:id="rId26"/>
    <p:sldLayoutId id="2147483658" r:id="rId27"/>
    <p:sldLayoutId id="2147483659" r:id="rId2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651191" name="Title 1"/>
          <p:cNvSpPr>
            <a:spLocks noGrp="1"/>
          </p:cNvSpPr>
          <p:nvPr>
            <p:ph type="ctr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GB" dirty="0"/>
              <a:t>Cartpole Reinforcement Learning project</a:t>
            </a:r>
          </a:p>
        </p:txBody>
      </p:sp>
      <p:sp>
        <p:nvSpPr>
          <p:cNvPr id="1819494511" name="Subtitle 2"/>
          <p:cNvSpPr>
            <a:spLocks noGrp="1"/>
          </p:cNvSpPr>
          <p:nvPr>
            <p:ph type="subTitle" idx="1"/>
          </p:nvPr>
        </p:nvSpPr>
        <p:spPr bwMode="auto"/>
        <p:txBody>
          <a:bodyPr>
            <a:normAutofit lnSpcReduction="10000"/>
          </a:bodyPr>
          <a:lstStyle/>
          <a:p>
            <a:pPr>
              <a:defRPr/>
            </a:pPr>
            <a:r>
              <a:rPr lang="en-GB" b="1" dirty="0"/>
              <a:t>Name : Kirabo Grace</a:t>
            </a:r>
          </a:p>
          <a:p>
            <a:pPr>
              <a:defRPr/>
            </a:pPr>
            <a:r>
              <a:rPr lang="en-GB" b="1" dirty="0"/>
              <a:t>Access Number : B35509</a:t>
            </a:r>
          </a:p>
          <a:p>
            <a:pPr>
              <a:defRPr/>
            </a:pPr>
            <a:r>
              <a:rPr lang="en-GB" b="1" dirty="0"/>
              <a:t>Registration number : S25M19/034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2338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Introduction</a:t>
            </a:r>
          </a:p>
        </p:txBody>
      </p:sp>
      <p:sp>
        <p:nvSpPr>
          <p:cNvPr id="1338216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r>
              <a:rPr lang="en-US" dirty="0"/>
              <a:t> Reinforcement Learning trains an agent through interactions.</a:t>
            </a:r>
          </a:p>
          <a:p>
            <a:r>
              <a:rPr lang="en-US" dirty="0"/>
              <a:t> CartPole-v1 is a classic control environment.</a:t>
            </a:r>
          </a:p>
          <a:p>
            <a:r>
              <a:rPr lang="en-US" dirty="0"/>
              <a:t> PPO algorithm used for stability and performance</a:t>
            </a: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93539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Project Objectives</a:t>
            </a:r>
          </a:p>
        </p:txBody>
      </p:sp>
      <p:sp>
        <p:nvSpPr>
          <p:cNvPr id="2145508140" name="Content Placeholder 4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Implement PPO agent for CartPole-v1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Train and evaluate model performance</a:t>
            </a:r>
          </a:p>
          <a:p>
            <a:pPr>
              <a:defRPr/>
            </a:pPr>
            <a:endParaRPr lang="en-GB" dirty="0"/>
          </a:p>
        </p:txBody>
      </p:sp>
      <p:sp>
        <p:nvSpPr>
          <p:cNvPr id="1960155301" name="Content Placeholder 5"/>
          <p:cNvSpPr>
            <a:spLocks noGrp="1"/>
          </p:cNvSpPr>
          <p:nvPr>
            <p:ph sz="half" idx="2"/>
          </p:nvPr>
        </p:nvSpPr>
        <p:spPr bwMode="auto"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Visualize results and reward patterns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Generate reproducible notebook, proposal, and report</a:t>
            </a:r>
          </a:p>
          <a:p>
            <a:pPr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000825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GB" dirty="0"/>
              <a:t>Methodology, Training and Evaluation</a:t>
            </a:r>
            <a:br>
              <a:rPr lang="en-GB" dirty="0"/>
            </a:br>
            <a:endParaRPr lang="en-GB" dirty="0"/>
          </a:p>
        </p:txBody>
      </p:sp>
      <p:sp>
        <p:nvSpPr>
          <p:cNvPr id="16065646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88033" cy="797342"/>
          </a:xfrm>
        </p:spPr>
        <p:txBody>
          <a:bodyPr/>
          <a:lstStyle/>
          <a:p>
            <a:pPr>
              <a:defRPr/>
            </a:pPr>
            <a:r>
              <a:rPr lang="en-GB" dirty="0"/>
              <a:t>Methodology</a:t>
            </a:r>
          </a:p>
        </p:txBody>
      </p:sp>
      <p:sp>
        <p:nvSpPr>
          <p:cNvPr id="1108951956" name="Content Placeholder 3"/>
          <p:cNvSpPr>
            <a:spLocks noGrp="1"/>
          </p:cNvSpPr>
          <p:nvPr>
            <p:ph sz="half" idx="2"/>
          </p:nvPr>
        </p:nvSpPr>
        <p:spPr bwMode="auto"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  <a:defRPr/>
            </a:pPr>
            <a:r>
              <a:rPr lang="en-GB" dirty="0"/>
              <a:t>Used Open AI Gym environment </a:t>
            </a:r>
          </a:p>
          <a:p>
            <a:pPr>
              <a:buFont typeface="Wingdings" panose="05000000000000000000" pitchFamily="2" charset="2"/>
              <a:buChar char="v"/>
              <a:defRPr/>
            </a:pPr>
            <a:r>
              <a:rPr lang="en-GB" dirty="0"/>
              <a:t>Trained PPO agent with stable baseline3</a:t>
            </a:r>
          </a:p>
          <a:p>
            <a:pPr>
              <a:buFont typeface="Wingdings" panose="05000000000000000000" pitchFamily="2" charset="2"/>
              <a:buChar char="v"/>
              <a:defRPr/>
            </a:pPr>
            <a:r>
              <a:rPr lang="en-GB" dirty="0"/>
              <a:t>Evaluation was over 20 episodes</a:t>
            </a:r>
          </a:p>
          <a:p>
            <a:pPr>
              <a:buFont typeface="Wingdings" panose="05000000000000000000" pitchFamily="2" charset="2"/>
              <a:buChar char="v"/>
              <a:defRPr/>
            </a:pPr>
            <a:r>
              <a:rPr lang="en-GB" dirty="0"/>
              <a:t>Reward visualisation using matplotlib</a:t>
            </a:r>
          </a:p>
        </p:txBody>
      </p:sp>
      <p:sp>
        <p:nvSpPr>
          <p:cNvPr id="385804379" name="Text Placeholder 4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Training and Evaluation</a:t>
            </a:r>
          </a:p>
        </p:txBody>
      </p:sp>
      <p:sp>
        <p:nvSpPr>
          <p:cNvPr id="1844167682" name="Content Placeholder 5"/>
          <p:cNvSpPr>
            <a:spLocks noGrp="1"/>
          </p:cNvSpPr>
          <p:nvPr>
            <p:ph sz="quarter" idx="4"/>
          </p:nvPr>
        </p:nvSpPr>
        <p:spPr bwMode="auto"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  <a:defRPr/>
            </a:pPr>
            <a:r>
              <a:rPr lang="en-GB" dirty="0"/>
              <a:t>Model trained for 100,000 timesteps</a:t>
            </a:r>
          </a:p>
          <a:p>
            <a:pPr>
              <a:buFont typeface="Wingdings" panose="05000000000000000000" pitchFamily="2" charset="2"/>
              <a:buChar char="v"/>
              <a:defRPr/>
            </a:pPr>
            <a:r>
              <a:rPr lang="en-GB" dirty="0"/>
              <a:t>Evaluation performed using mean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63F7D-0845-4E61-B3B4-8C6951E4E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Results and Conclusion</a:t>
            </a:r>
            <a:br>
              <a:rPr lang="en-UG" dirty="0"/>
            </a:b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4C0BF-5D1D-4B32-8181-9EF5A4CCEC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Stable training with PPO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High average reward after training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Supports reproducibility and deployment readiness</a:t>
            </a:r>
            <a:endParaRPr lang="en-U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FC594-938B-4C10-A1CD-0F626BF4744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PPO efficiently solves Cart Pole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Project demonstrates RL workflow end-to-end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Ready for extension to complex environments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421267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">
      <a:majorFont>
        <a:latin typeface="Trebuchet MS"/>
        <a:ea typeface="Arial"/>
        <a:cs typeface="Arial"/>
      </a:majorFont>
      <a:minorFont>
        <a:latin typeface="Trebuchet M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</TotalTime>
  <Words>150</Words>
  <Application>Microsoft Office PowerPoint</Application>
  <PresentationFormat>Widescreen</PresentationFormat>
  <Paragraphs>34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Trebuchet MS</vt:lpstr>
      <vt:lpstr>Wingdings</vt:lpstr>
      <vt:lpstr>Wingdings 3</vt:lpstr>
      <vt:lpstr>Facet</vt:lpstr>
      <vt:lpstr>Cartpole Reinforcement Learning project</vt:lpstr>
      <vt:lpstr>Introduction</vt:lpstr>
      <vt:lpstr>Project Objectives</vt:lpstr>
      <vt:lpstr>Methodology, Training and Evaluation </vt:lpstr>
      <vt:lpstr>Results and 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UCU</dc:title>
  <dc:creator>Microsoft Office User</dc:creator>
  <cp:lastModifiedBy>graceagabak@gmail.com</cp:lastModifiedBy>
  <cp:revision>28</cp:revision>
  <dcterms:created xsi:type="dcterms:W3CDTF">2023-08-23T08:11:39Z</dcterms:created>
  <dcterms:modified xsi:type="dcterms:W3CDTF">2025-11-20T05:06:35Z</dcterms:modified>
</cp:coreProperties>
</file>